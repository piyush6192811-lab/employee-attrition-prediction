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3" d="100"/>
          <a:sy n="163" d="100"/>
        </p:scale>
        <p:origin x="-144" y="-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CD8E0-606B-4332-9358-69B38C575EC8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4AB04-7244-4B17-9A2E-2895260A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29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10287000" cy="51435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" name="Text 1"/>
          <p:cNvSpPr/>
          <p:nvPr/>
        </p:nvSpPr>
        <p:spPr>
          <a:xfrm>
            <a:off x="628650" y="926288"/>
            <a:ext cx="9144000" cy="89383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Employee Attrition Prediction
Using Machine Learning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28650" y="2417880"/>
            <a:ext cx="9144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Modeling for Strategic HR Management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8650" y="3409076"/>
            <a:ext cx="27146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8650" y="3600171"/>
            <a:ext cx="2714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Lucky Khatik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29025" y="3409076"/>
            <a:ext cx="27146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29025" y="3600171"/>
            <a:ext cx="2714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BCA (Hons.), 2nd Semester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8650" y="4166313"/>
            <a:ext cx="27146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8650" y="4357408"/>
            <a:ext cx="2714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Jiwaji University, Gwalior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29025" y="4166313"/>
            <a:ext cx="27146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DATE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29025" y="4357408"/>
            <a:ext cx="27146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June 2026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Proactive Management of Workforce Dynamics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56206"/>
            <a:ext cx="2571750" cy="34872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56206"/>
            <a:ext cx="2571750" cy="2857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984818"/>
            <a:ext cx="2228850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What is Attrition?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2950" y="2336648"/>
            <a:ext cx="2228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attrition refers to the voluntary or involuntary departure of employees from an organization, leading to workforce changes.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86125" y="1656206"/>
            <a:ext cx="2571750" cy="34872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3286125" y="1656206"/>
            <a:ext cx="2571750" cy="2857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0" name="Text 7"/>
          <p:cNvSpPr/>
          <p:nvPr/>
        </p:nvSpPr>
        <p:spPr>
          <a:xfrm>
            <a:off x="3457575" y="1984818"/>
            <a:ext cx="2228850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The Impact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57575" y="2336648"/>
            <a:ext cx="2228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attrition rates lead to loss of institutional knowledge, decreased productivity, and significant operational costs for recruitment.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00750" y="1656206"/>
            <a:ext cx="2571750" cy="34872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00750" y="1656206"/>
            <a:ext cx="2571750" cy="2857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1984818"/>
            <a:ext cx="2228850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72200" y="2336648"/>
            <a:ext cx="22288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leverages Machine Learning to identify patterns and predict potential attrition before it occurs, enabling proactive HR actions.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High Turnover Costs Organizations Resources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41918"/>
            <a:ext cx="4208311" cy="2786063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5" name="Text 2"/>
          <p:cNvSpPr/>
          <p:nvPr/>
        </p:nvSpPr>
        <p:spPr>
          <a:xfrm>
            <a:off x="928688" y="1927668"/>
            <a:ext cx="349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1.5x - 2x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928688" y="2756343"/>
            <a:ext cx="3493936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an employee's annual salary is the typical cost of replacement, including hiring and training.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208436" y="1713356"/>
            <a:ext cx="336406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Frequent turnover disrupts team stability and project continuity.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208436" y="2393407"/>
            <a:ext cx="336406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recruitment and onboarding costs drain financial resources.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08436" y="3073459"/>
            <a:ext cx="336406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of institutional knowledge affects long-term productivity.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566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Leveraging Data Science for Strategic HR Decisions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970531"/>
            <a:ext cx="3893344" cy="1685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970531"/>
            <a:ext cx="3893344" cy="42863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2568820"/>
            <a:ext cx="3464719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Data Analysis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5813" y="2906362"/>
            <a:ext cx="34647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exploratory data analysis on IBM HR employee records to uncover hidden trends and correlations.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79156" y="1970531"/>
            <a:ext cx="3893344" cy="1685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679156" y="1970531"/>
            <a:ext cx="3893344" cy="42863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2206275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3469" y="2568820"/>
            <a:ext cx="3464719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Model Development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93469" y="2906362"/>
            <a:ext cx="34647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robust Machine Learning model using the Random Forest algorithm to ensure high predictive accuracy.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71500" y="3870768"/>
            <a:ext cx="3893344" cy="1685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571500" y="3870768"/>
            <a:ext cx="3893344" cy="42863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4106512"/>
            <a:ext cx="28575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5813" y="4469057"/>
            <a:ext cx="3464719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Attrition Prediction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85813" y="4806600"/>
            <a:ext cx="34647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the organization to predict which employees are at high risk of leaving based on historical patterns.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79156" y="3870768"/>
            <a:ext cx="3893344" cy="1685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4679156" y="3870768"/>
            <a:ext cx="3893344" cy="42863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4063650"/>
            <a:ext cx="28575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93469" y="4426195"/>
            <a:ext cx="3464719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Decision Support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893469" y="4763737"/>
            <a:ext cx="34647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actionable insights to improve HR decision-making, employee satisfaction, and long-term retention.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Analyzing the IBM HR Analytics Dataset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327593"/>
            <a:ext cx="2609841" cy="1865077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1470468"/>
            <a:ext cx="2324091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1,470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714375" y="2074115"/>
            <a:ext cx="232409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67066" y="1327593"/>
            <a:ext cx="2609841" cy="1865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3267066" y="1327593"/>
            <a:ext cx="2609841" cy="28575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9" name="Text 6"/>
          <p:cNvSpPr/>
          <p:nvPr/>
        </p:nvSpPr>
        <p:spPr>
          <a:xfrm>
            <a:off x="3409941" y="1470468"/>
            <a:ext cx="2324091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09941" y="1822298"/>
            <a:ext cx="232409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dataset created by IBM data scientists for HR analytics research and predictive modeling.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62631" y="1327593"/>
            <a:ext cx="2609869" cy="1865077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2" name="Text 9"/>
          <p:cNvSpPr/>
          <p:nvPr/>
        </p:nvSpPr>
        <p:spPr>
          <a:xfrm>
            <a:off x="6105506" y="1470468"/>
            <a:ext cx="2324119" cy="532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35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6105506" y="2074115"/>
            <a:ext cx="232411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kern="0" spc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1500" y="3278395"/>
            <a:ext cx="2609841" cy="18651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278395"/>
            <a:ext cx="2609841" cy="28575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6" name="Text 13"/>
          <p:cNvSpPr/>
          <p:nvPr/>
        </p:nvSpPr>
        <p:spPr>
          <a:xfrm>
            <a:off x="714375" y="3421270"/>
            <a:ext cx="2324091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Key Dimensions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4375" y="3773100"/>
            <a:ext cx="232409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demographics, job roles, satisfaction levels, daily rates, and performance ratings.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67066" y="3278395"/>
            <a:ext cx="2609841" cy="186510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9" name="Text 16"/>
          <p:cNvSpPr/>
          <p:nvPr/>
        </p:nvSpPr>
        <p:spPr>
          <a:xfrm>
            <a:off x="3409941" y="3421270"/>
            <a:ext cx="2324091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Target Variable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09941" y="3773100"/>
            <a:ext cx="232409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goal is to predict 'Attrition' (Yes/No), identifying employees at risk of leaving.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62631" y="3278395"/>
            <a:ext cx="2609869" cy="18651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5962631" y="3278395"/>
            <a:ext cx="2609869" cy="28575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3" name="Text 20"/>
          <p:cNvSpPr/>
          <p:nvPr/>
        </p:nvSpPr>
        <p:spPr>
          <a:xfrm>
            <a:off x="6105506" y="3421270"/>
            <a:ext cx="2324119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105506" y="3773100"/>
            <a:ext cx="23241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structured data with no missing values, ideal for training robust classification models.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8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 Modern Data Science Stack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56206"/>
            <a:ext cx="2547919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56206"/>
            <a:ext cx="2547919" cy="28575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895522"/>
            <a:ext cx="225028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0094" y="2290214"/>
            <a:ext cx="21907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0094" y="2590251"/>
            <a:ext cx="21907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language for data processing, statistical analysis, and machine learning implementation.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298013" y="1656206"/>
            <a:ext cx="2547947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3298013" y="1656206"/>
            <a:ext cx="2547947" cy="28575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6606" y="1895522"/>
            <a:ext cx="321469" cy="2571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76606" y="2290214"/>
            <a:ext cx="2190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476606" y="2590251"/>
            <a:ext cx="219075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Cloud-based Jupyter Notebook environment for collaborative development and GPU acceleration.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024553" y="1656206"/>
            <a:ext cx="2547919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6024553" y="1656206"/>
            <a:ext cx="2547919" cy="28575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147" y="1895522"/>
            <a:ext cx="257175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03147" y="2290214"/>
            <a:ext cx="21907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Pandas &amp; NumPy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203147" y="2590251"/>
            <a:ext cx="21907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Essential libraries for high-performance data manipulation and numerical computing.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71500" y="3506437"/>
            <a:ext cx="2547919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500" y="3506437"/>
            <a:ext cx="2547919" cy="28575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3745753"/>
            <a:ext cx="257175" cy="2571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0094" y="4140445"/>
            <a:ext cx="21907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Matplotlib &amp; Seaborn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50094" y="4440482"/>
            <a:ext cx="21907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Powerful visualization tools for creating static, animated, and interactive statistical graphics.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3298013" y="3506437"/>
            <a:ext cx="2547947" cy="1671638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5" name="Shape 18"/>
          <p:cNvSpPr/>
          <p:nvPr/>
        </p:nvSpPr>
        <p:spPr>
          <a:xfrm>
            <a:off x="3298013" y="3506437"/>
            <a:ext cx="2547947" cy="28575"/>
          </a:xfrm>
          <a:prstGeom prst="rect">
            <a:avLst/>
          </a:prstGeom>
          <a:solidFill>
            <a:srgbClr val="F2994A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6606" y="3745753"/>
            <a:ext cx="321469" cy="2571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76606" y="4140445"/>
            <a:ext cx="2190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3476606" y="4440482"/>
            <a:ext cx="219075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Industry-standard library for predictive data analysis and machine learning algorithms.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6024553" y="3506437"/>
            <a:ext cx="2547919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2"/>
          <p:cNvSpPr/>
          <p:nvPr/>
        </p:nvSpPr>
        <p:spPr>
          <a:xfrm>
            <a:off x="6024553" y="3506437"/>
            <a:ext cx="2547919" cy="28575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3147" y="3728451"/>
            <a:ext cx="225028" cy="25717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03147" y="4123144"/>
            <a:ext cx="21907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6203147" y="4423181"/>
            <a:ext cx="219073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ensemble learning method used for classification to achieve high predictive accuracy.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Systematic Approach from Data to Prediction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27618"/>
            <a:ext cx="2609841" cy="1765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27618"/>
            <a:ext cx="2609841" cy="2857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656206"/>
            <a:ext cx="22526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01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956243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7269" y="1927668"/>
            <a:ext cx="1325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Data Acquisition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50094" y="2227706"/>
            <a:ext cx="225265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the IBM HR Analytics dataset containing 1,470 records and 35 initial features.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67066" y="1527618"/>
            <a:ext cx="2609841" cy="1765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3267066" y="1527618"/>
            <a:ext cx="2609841" cy="2857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2" name="Text 8"/>
          <p:cNvSpPr/>
          <p:nvPr/>
        </p:nvSpPr>
        <p:spPr>
          <a:xfrm>
            <a:off x="3445659" y="1656206"/>
            <a:ext cx="22526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02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5659" y="1956243"/>
            <a:ext cx="214313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5697" y="1927668"/>
            <a:ext cx="11483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445659" y="2227706"/>
            <a:ext cx="2252653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 data, handling missing values, and removing non-informative columns like EmployeeID.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962631" y="1527618"/>
            <a:ext cx="2609869" cy="1765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5962631" y="1527618"/>
            <a:ext cx="2609869" cy="2857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8" name="Text 13"/>
          <p:cNvSpPr/>
          <p:nvPr/>
        </p:nvSpPr>
        <p:spPr>
          <a:xfrm>
            <a:off x="6141225" y="1656206"/>
            <a:ext cx="22526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03</a:t>
            </a:r>
            <a:endParaRPr lang="en-US" sz="1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225" y="1956243"/>
            <a:ext cx="214313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41263" y="1927668"/>
            <a:ext cx="16252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141225" y="2227706"/>
            <a:ext cx="22526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Encoding categorical variables and scaling numerical features for optimal model performance.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571500" y="3378408"/>
            <a:ext cx="2609841" cy="17650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571500" y="3378408"/>
            <a:ext cx="2609841" cy="2857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4" name="Text 18"/>
          <p:cNvSpPr/>
          <p:nvPr/>
        </p:nvSpPr>
        <p:spPr>
          <a:xfrm>
            <a:off x="750094" y="3506995"/>
            <a:ext cx="22526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04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3807033"/>
            <a:ext cx="171450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7269" y="3778458"/>
            <a:ext cx="12430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50094" y="4078495"/>
            <a:ext cx="225265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Splitting data into 80/20 train-test sets and training the Random Forest Classifier.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267066" y="3378408"/>
            <a:ext cx="2609841" cy="1765092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29" name="Shape 22"/>
          <p:cNvSpPr/>
          <p:nvPr/>
        </p:nvSpPr>
        <p:spPr>
          <a:xfrm>
            <a:off x="3267066" y="3378408"/>
            <a:ext cx="2609841" cy="28575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30" name="Text 23"/>
          <p:cNvSpPr/>
          <p:nvPr/>
        </p:nvSpPr>
        <p:spPr>
          <a:xfrm>
            <a:off x="3445659" y="3506995"/>
            <a:ext cx="22526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05</a:t>
            </a:r>
            <a:endParaRPr lang="en-US" sz="12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5659" y="3807033"/>
            <a:ext cx="192881" cy="1714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24266" y="3778458"/>
            <a:ext cx="853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445659" y="4078495"/>
            <a:ext cx="225265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Assessing performance using Accuracy, Confusion Matrix, and Classification Reports.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962631" y="3378408"/>
            <a:ext cx="2609869" cy="17650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7"/>
          <p:cNvSpPr/>
          <p:nvPr/>
        </p:nvSpPr>
        <p:spPr>
          <a:xfrm>
            <a:off x="5962631" y="3378408"/>
            <a:ext cx="2609869" cy="2857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6" name="Text 28"/>
          <p:cNvSpPr/>
          <p:nvPr/>
        </p:nvSpPr>
        <p:spPr>
          <a:xfrm>
            <a:off x="6141225" y="3506995"/>
            <a:ext cx="22526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06</a:t>
            </a:r>
            <a:endParaRPr lang="en-US" sz="12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1225" y="3807033"/>
            <a:ext cx="128588" cy="17145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55538" y="3778458"/>
            <a:ext cx="6500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Insights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6141225" y="4078495"/>
            <a:ext cx="22526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Extracting feature importance to identify the primary drivers of employee attrition.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485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770381"/>
            <a:ext cx="828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Random Forest Classifier Performance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85775" y="1584768"/>
            <a:ext cx="3257550" cy="257175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5" name="Text 2"/>
          <p:cNvSpPr/>
          <p:nvPr/>
        </p:nvSpPr>
        <p:spPr>
          <a:xfrm>
            <a:off x="1209080" y="2290214"/>
            <a:ext cx="181094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kern="0" spc="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ACCURACY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19770" y="2554532"/>
            <a:ext cx="2189559" cy="912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95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88.10%</a:t>
            </a:r>
            <a:endParaRPr lang="en-US" sz="4950" dirty="0"/>
          </a:p>
        </p:txBody>
      </p:sp>
      <p:sp>
        <p:nvSpPr>
          <p:cNvPr id="7" name="Text 4"/>
          <p:cNvSpPr/>
          <p:nvPr/>
        </p:nvSpPr>
        <p:spPr>
          <a:xfrm>
            <a:off x="709910" y="3581447"/>
            <a:ext cx="280928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Achieved on the IBM HR Analytics test dataset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86200" y="1584768"/>
            <a:ext cx="4886325" cy="2571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3886200" y="1584768"/>
            <a:ext cx="4886325" cy="28575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0" name="Text 7"/>
          <p:cNvSpPr/>
          <p:nvPr/>
        </p:nvSpPr>
        <p:spPr>
          <a:xfrm>
            <a:off x="4100513" y="1799081"/>
            <a:ext cx="4457700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Classification Report Summary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00513" y="2179486"/>
            <a:ext cx="1101700" cy="276820"/>
          </a:xfrm>
          <a:prstGeom prst="rect">
            <a:avLst/>
          </a:prstGeom>
          <a:noFill/>
          <a:ln/>
        </p:spPr>
        <p:txBody>
          <a:bodyPr wrap="none" lIns="8509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02213" y="2179486"/>
            <a:ext cx="1609911" cy="276820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0 (Stay)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12124" y="2179486"/>
            <a:ext cx="1746089" cy="276820"/>
          </a:xfrm>
          <a:prstGeom prst="rect">
            <a:avLst/>
          </a:prstGeom>
          <a:noFill/>
          <a:ln/>
        </p:spPr>
        <p:txBody>
          <a:bodyPr wrap="square" lIns="8509" tIns="68072" rIns="8509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1 (Leave)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00513" y="2456306"/>
            <a:ext cx="1101700" cy="308967"/>
          </a:xfrm>
          <a:prstGeom prst="rect">
            <a:avLst/>
          </a:prstGeom>
          <a:noFill/>
          <a:ln/>
        </p:spPr>
        <p:txBody>
          <a:bodyPr wrap="non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202213" y="2456306"/>
            <a:ext cx="1609911" cy="308967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0.88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12124" y="2456306"/>
            <a:ext cx="1746089" cy="308967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100513" y="2765273"/>
            <a:ext cx="1101700" cy="305395"/>
          </a:xfrm>
          <a:prstGeom prst="rect">
            <a:avLst/>
          </a:prstGeom>
          <a:noFill/>
          <a:ln/>
        </p:spPr>
        <p:txBody>
          <a:bodyPr wrap="non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202213" y="2765273"/>
            <a:ext cx="1609911" cy="305395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812124" y="2765273"/>
            <a:ext cx="1746089" cy="305395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100513" y="3070668"/>
            <a:ext cx="1101700" cy="305395"/>
          </a:xfrm>
          <a:prstGeom prst="rect">
            <a:avLst/>
          </a:prstGeom>
          <a:noFill/>
          <a:ln/>
        </p:spPr>
        <p:txBody>
          <a:bodyPr wrap="non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202213" y="3070668"/>
            <a:ext cx="1609911" cy="305395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0.94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12124" y="3070668"/>
            <a:ext cx="1746089" cy="305395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0.22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107656" y="3508223"/>
            <a:ext cx="12072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The model shows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314950" y="3508223"/>
            <a:ext cx="11322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F299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excellent precision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07656" y="3508223"/>
            <a:ext cx="437911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identifying employees who will stay.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63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Top 10 Factors Influencing Attrition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56206"/>
            <a:ext cx="4959800" cy="36075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56206"/>
            <a:ext cx="4959800" cy="28575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870518"/>
            <a:ext cx="4530923" cy="2857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17050" y="1656206"/>
            <a:ext cx="2755450" cy="1107281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8" name="Shape 4"/>
          <p:cNvSpPr/>
          <p:nvPr/>
        </p:nvSpPr>
        <p:spPr>
          <a:xfrm>
            <a:off x="5817050" y="1656206"/>
            <a:ext cx="42863" cy="1107281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9" name="Text 5"/>
          <p:cNvSpPr/>
          <p:nvPr/>
        </p:nvSpPr>
        <p:spPr>
          <a:xfrm>
            <a:off x="5995643" y="1834800"/>
            <a:ext cx="239826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Financial Impact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95643" y="2115192"/>
            <a:ext cx="23982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Income and Daily Rate are the strongest predictors, highlighting the role of compensation.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817050" y="2906362"/>
            <a:ext cx="2755450" cy="1107281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2" name="Shape 8"/>
          <p:cNvSpPr/>
          <p:nvPr/>
        </p:nvSpPr>
        <p:spPr>
          <a:xfrm>
            <a:off x="5817050" y="2906362"/>
            <a:ext cx="42863" cy="1107281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3" name="Text 9"/>
          <p:cNvSpPr/>
          <p:nvPr/>
        </p:nvSpPr>
        <p:spPr>
          <a:xfrm>
            <a:off x="5995643" y="3084956"/>
            <a:ext cx="239826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Work-Life Balance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995643" y="3365348"/>
            <a:ext cx="23982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Overtime is a critical driver, suggesting that workload management is key to retention.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817050" y="4156518"/>
            <a:ext cx="2755450" cy="1107281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6" name="Shape 12"/>
          <p:cNvSpPr/>
          <p:nvPr/>
        </p:nvSpPr>
        <p:spPr>
          <a:xfrm>
            <a:off x="5817050" y="4156518"/>
            <a:ext cx="42863" cy="1107281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7" name="Text 13"/>
          <p:cNvSpPr/>
          <p:nvPr/>
        </p:nvSpPr>
        <p:spPr>
          <a:xfrm>
            <a:off x="5995643" y="4335112"/>
            <a:ext cx="239826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Experience &amp; Tenure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995643" y="4615504"/>
            <a:ext cx="23982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and Total Working Years significantly influence an employee's stability within the firm.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8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Data-Driven Strategies Enhance Retention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56206"/>
            <a:ext cx="2547919" cy="1671638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747289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2041968"/>
            <a:ext cx="226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Model Reliability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14375" y="2377725"/>
            <a:ext cx="226216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effectively predicts attrition with 88.10% accuracy, providing a reliable tool for HR departments.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3298013" y="1656206"/>
            <a:ext cx="2547947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3298013" y="1656206"/>
            <a:ext cx="2547947" cy="28575"/>
          </a:xfrm>
          <a:prstGeom prst="rect">
            <a:avLst/>
          </a:prstGeom>
          <a:solidFill>
            <a:srgbClr val="F2994A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888" y="1747289"/>
            <a:ext cx="225028" cy="200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40888" y="2041968"/>
            <a:ext cx="22621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Compensation Strategy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440888" y="2377725"/>
            <a:ext cx="2262197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salary structures for high-risk roles can directly mitigate the primary financial drivers of turnover.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6024553" y="1656206"/>
            <a:ext cx="2547919" cy="1671638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428" y="1747289"/>
            <a:ext cx="200025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67428" y="2041968"/>
            <a:ext cx="226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Workload Balance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167428" y="2377725"/>
            <a:ext cx="226216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Overtime is a critical predictor; managing work hours is essential for maintaining long-term employee engagement.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571500" y="3506437"/>
            <a:ext cx="2547919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2"/>
          <p:cNvSpPr/>
          <p:nvPr/>
        </p:nvSpPr>
        <p:spPr>
          <a:xfrm>
            <a:off x="571500" y="3506437"/>
            <a:ext cx="2547919" cy="28575"/>
          </a:xfrm>
          <a:prstGeom prst="rect">
            <a:avLst/>
          </a:prstGeom>
          <a:solidFill>
            <a:srgbClr val="F2994A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597520"/>
            <a:ext cx="250031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4375" y="3892200"/>
            <a:ext cx="226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Proactive Retention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714375" y="4227956"/>
            <a:ext cx="226216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at-risk employees early allows HR to implement personalized retention plans and career counseling.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3298013" y="3506437"/>
            <a:ext cx="2547947" cy="1671638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0888" y="3597520"/>
            <a:ext cx="200025" cy="2000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440888" y="3892200"/>
            <a:ext cx="22621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Strategic Growth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440888" y="4227956"/>
            <a:ext cx="2262197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Focusing on 'Total Working Years' and 'Age' helps in designing better benefits for different career stages.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6024553" y="3506437"/>
            <a:ext cx="2547919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19"/>
          <p:cNvSpPr/>
          <p:nvPr/>
        </p:nvSpPr>
        <p:spPr>
          <a:xfrm>
            <a:off x="6024553" y="3506437"/>
            <a:ext cx="2547919" cy="28575"/>
          </a:xfrm>
          <a:prstGeom prst="rect">
            <a:avLst/>
          </a:prstGeom>
          <a:solidFill>
            <a:srgbClr val="F2994A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7428" y="3580219"/>
            <a:ext cx="150019" cy="20002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167428" y="3874898"/>
            <a:ext cx="2262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Culture &amp; Stability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6167428" y="4210655"/>
            <a:ext cx="226216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Reducing attrition fosters a stable organizational culture, preserving institutional knowledge and team morale.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09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Advancing the Predictive Framework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56206"/>
            <a:ext cx="3929063" cy="1685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56206"/>
            <a:ext cx="3929063" cy="42863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89195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2254495"/>
            <a:ext cx="3500438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Algorithm Optimization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2592037"/>
            <a:ext cx="35004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Exploring advanced boosting techniques like XGBoost and LightGBM to achieve even higher predictive accuracy and model robustness.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43438" y="1656206"/>
            <a:ext cx="3929063" cy="168592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0" name="Shape 6"/>
          <p:cNvSpPr/>
          <p:nvPr/>
        </p:nvSpPr>
        <p:spPr>
          <a:xfrm>
            <a:off x="4643438" y="1656206"/>
            <a:ext cx="3929063" cy="42863"/>
          </a:xfrm>
          <a:prstGeom prst="rect">
            <a:avLst/>
          </a:prstGeom>
          <a:solidFill>
            <a:srgbClr val="F2994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891950"/>
            <a:ext cx="28575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57750" y="2254495"/>
            <a:ext cx="3500438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857750" y="2592037"/>
            <a:ext cx="35004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a user-friendly web interface using Flask or Streamlit to allow HR professionals to interact with the model easily.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71500" y="3485006"/>
            <a:ext cx="3929063" cy="1685925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3485006"/>
            <a:ext cx="3929063" cy="42863"/>
          </a:xfrm>
          <a:prstGeom prst="rect">
            <a:avLst/>
          </a:prstGeom>
          <a:solidFill>
            <a:srgbClr val="F2994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720750"/>
            <a:ext cx="257175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5813" y="4083295"/>
            <a:ext cx="3500438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994A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Real-time Analytics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85813" y="4420837"/>
            <a:ext cx="35004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a live HR dashboard for continuous monitoring of workforce trends and early warning signals of attrition.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643438" y="3485006"/>
            <a:ext cx="3929063" cy="1685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4643438" y="3485006"/>
            <a:ext cx="3929063" cy="42863"/>
          </a:xfrm>
          <a:prstGeom prst="rect">
            <a:avLst/>
          </a:prstGeom>
          <a:solidFill>
            <a:srgbClr val="102A4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707020"/>
            <a:ext cx="28575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57750" y="4069566"/>
            <a:ext cx="3500438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Cloud Integration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857750" y="4407108"/>
            <a:ext cx="35004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Deploying the solution to cloud platforms like AWS or Azure to ensure organizational scalability and global accessibility.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53878" y="1353824"/>
            <a:ext cx="423624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350" b="1" dirty="0">
                <a:solidFill>
                  <a:srgbClr val="102A43"/>
                </a:solidFill>
                <a:latin typeface="Playfair Display ExtraBold" pitchFamily="34" charset="0"/>
                <a:ea typeface="Playfair Display ExtraBold" pitchFamily="34" charset="-122"/>
                <a:cs typeface="Playfair Display ExtraBold" pitchFamily="34" charset="-120"/>
              </a:rPr>
              <a:t>Thank You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2453878" y="2711137"/>
            <a:ext cx="4236244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334E6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Questions &amp; Answers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955" y="3464802"/>
            <a:ext cx="20002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86025" y="3827348"/>
            <a:ext cx="8018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2453878" y="4018443"/>
            <a:ext cx="86618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Lucky Khatik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7345" y="346480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43375" y="3827348"/>
            <a:ext cx="8965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748683" y="4018443"/>
            <a:ext cx="16859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Jiwaji University, Gwalior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377" y="3464802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90034" y="3827348"/>
            <a:ext cx="5732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5863233" y="4018443"/>
            <a:ext cx="82688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BCA (Hons.)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851</Words>
  <Application>Microsoft Office PowerPoint</Application>
  <PresentationFormat>On-screen Show (16:9)</PresentationFormat>
  <Paragraphs>146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welcomm</cp:lastModifiedBy>
  <cp:revision>2</cp:revision>
  <dcterms:created xsi:type="dcterms:W3CDTF">2026-06-29T09:24:42Z</dcterms:created>
  <dcterms:modified xsi:type="dcterms:W3CDTF">2026-06-29T09:27:45Z</dcterms:modified>
</cp:coreProperties>
</file>